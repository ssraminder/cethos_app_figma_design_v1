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9199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solidFill>
            <a:srgbClr val="12305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12305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 ·  ISO 17100 READINESS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mapped to ISO 17100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Per-workflow: pre-production · production · post-production, client communication, and the mandatory §5.3.3 reviser — with one slide per active workflow.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active workflows</a:t>
            </a: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verified against production   ·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draft for IQVIA EQA prep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 17100 process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moves through three phases. Today Cethos performs the work but does not label the phase — the goal is to make each phase explicit and auditable.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 · Clause 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2057400"/>
            <a:ext cx="3236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&amp; feasibility (§4.2)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(§4.3)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Client–TSP agreement (§4.4)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preparation / assignment (§4.6)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434840" y="1691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Clause 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62272" y="2057400"/>
            <a:ext cx="3236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&amp; client comms (§5.2)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(§5.3.1) + self-check (§5.3.2)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by 2nd linguist (§5.3.3, mandatory)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proofreading (§5.3.4/5) — optional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verification &amp; release (§5.3.6)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66160" cy="2788920"/>
          </a:xfrm>
          <a:prstGeom prst="roundRect">
            <a:avLst>
              <a:gd name="adj" fmla="val 262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275320" y="1691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 · Clause 6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302752" y="2057400"/>
            <a:ext cx="3236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to client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handling (§6.1)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→ CAPA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admin &amp; archiving (§6.2)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for every translation: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by a second, different qualified linguist (§5.3.3). Review/validation services (cognitive debriefing, clinician review) are not translation, so §5.3.3 does not apply to them — internal review suffices.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440680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0C234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30352" y="544068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87552" y="5440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 / consultant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5440680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2816352" y="544068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73552" y="5440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 (QA)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0" y="5440680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5102352" y="544068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559552" y="5440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0" y="5440680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7388352" y="544068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45552" y="5440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/ assembly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01200" y="5440680"/>
            <a:ext cx="457200" cy="384048"/>
          </a:xfrm>
          <a:prstGeom prst="roundRect">
            <a:avLst>
              <a:gd name="adj" fmla="val 14286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9674352" y="544068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31552" y="5440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touchpoint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 is the quote / order record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separate 'project preparation' step. ISO's pre-production specifications (§4.2–§4.6) are already captured when a quote or order is created.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21792" y="175564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company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 manager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Created-by staff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462272" y="175564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06654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target language(s)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+ certification type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 · country of issue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302752" y="175564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206654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+ document type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Complexity, word / page counts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unit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21792" y="33832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 &amp; dates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9417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tax, discounts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delivery date(s)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number · client project #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297680" y="3273552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462272" y="33832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69417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 number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instructions / notes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(web / staff / AR)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138160" y="3273552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8302752" y="338328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→ production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69417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 (§4.6)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gate logged (QMS)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template applied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implication: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 evidence already exists per order; the gap is that it is not phase-tagged or tied to a single auditable timeline.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debriefing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COA/PRO instrument validation — interviews with target-population respondents testing comprehension and cultural fit. A validation service, not translation production.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557784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429000" y="1874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5256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18972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6751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order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67512" y="2871216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225856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529584" y="225856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Translation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289864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529584" y="289864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Cognitive debriefing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56432" y="353872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475569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529584" y="353872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QA review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26287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(release)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289864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9262872" y="28986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89720" y="34655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262872" y="346557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(§6.1)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89720" y="3959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proposed, audit-logged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504748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66928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draft review: 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504748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3858768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§5.3.3: see note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for the debriefing — a validation step. Forward-translation revision lives in the full LV cycle (built later).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561441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interviewer + internal QA is the right control. ISO §5.3.3 does not apply to the debriefing itself.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Clinical-appropriateness review of an instrument or translation by a qualified physician. A specialist review service, not translation production.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557784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429000" y="1874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5256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18972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6751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order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67512" y="2871216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225856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529584" y="225856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Clinician review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289864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475569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529584" y="289864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QA review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8972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926287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(release)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289864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262872" y="28986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89720" y="34655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9262872" y="346557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(§6.1)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89720" y="3959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proposed, audit-logged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504748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66928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draft review: no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504748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3858768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§5.3.3: not applicable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review service produces no translation, so there is nothing to bilingually revise.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561441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clinician + internal QA is sufficient and appropriate under ISO 17100.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/ back translation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translation, independent back translation, clinician review and reconciliation — the clinical/COA verification approach.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557784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429000" y="1874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5256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18972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6751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order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67512" y="2871216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9584" y="2258568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Translation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2752344"/>
            <a:ext cx="5248656" cy="420624"/>
          </a:xfrm>
          <a:prstGeom prst="roundRect">
            <a:avLst>
              <a:gd name="adj" fmla="val 13043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529584" y="2752344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Back translation (indep.)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56432" y="3246120"/>
            <a:ext cx="5248656" cy="420624"/>
          </a:xfrm>
          <a:prstGeom prst="roundRect">
            <a:avLst>
              <a:gd name="adj" fmla="val 13043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529584" y="3246120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Clinician review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56432" y="3739896"/>
            <a:ext cx="5248656" cy="420624"/>
          </a:xfrm>
          <a:prstGeom prst="roundRect">
            <a:avLst>
              <a:gd name="adj" fmla="val 13043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529584" y="3739896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Post clinician review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56432" y="4233672"/>
            <a:ext cx="5248656" cy="420624"/>
          </a:xfrm>
          <a:prstGeom prst="roundRect">
            <a:avLst>
              <a:gd name="adj" fmla="val 13043"/>
            </a:avLst>
          </a:prstGeom>
          <a:solidFill>
            <a:srgbClr val="475569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3529584" y="4233672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Reconciliation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8972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26287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(release)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89864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9262872" y="28986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89720" y="34655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9262872" y="346557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(§6.1)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89720" y="3959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proposed, audit-logged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504748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566928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draft review: no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49040" y="504748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3858768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§5.3.3: see note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back-translation + reconciliation (COA method) rather than a classic §5.3.3 revision. Confirm this satisfies the spec.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561441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clinical verification. Map back-translation + reconciliation to the §5.3.3 intent in the audit binder.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translation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translation of official documents, with a customer draft review and PM certification. Cethos's default document workflow.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557784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429000" y="1874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5256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18972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6751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order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67512" y="2871216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225856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529584" y="225856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Translation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289864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529584" y="289864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Customer draft review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56432" y="353872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64748B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529584" y="353872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PM review &amp; certification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26287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(release)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289864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9262872" y="28986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89720" y="34655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262872" y="346557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(§6.1)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89720" y="3959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proposed, audit-logged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504748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66928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draft review: yes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504748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3858768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§5.3.3 reviser: not present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second-linguist revision. PM review + customer draft review are not §5.3.3 (the client is not a qualified reviser).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561441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needed: add a §5.3.3 reviser to deliver under ISO 17100, or scope certified docs under their own certification regime.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+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plus an independent second-linguist review, with a customer draft review before QA.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557784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429000" y="1874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5256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18972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6751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order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67512" y="2871216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225856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529584" y="225856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Translation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289864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529584" y="289864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Review (indep.)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29584" y="353872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Customer draft review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56432" y="417880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475569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529584" y="417880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QA review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8972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926287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(release)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89720" y="289864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262872" y="28986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89720" y="34655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9262872" y="346557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(§6.1)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89720" y="3959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proposed, audit-logged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504748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30" name="Text 28"/>
          <p:cNvSpPr/>
          <p:nvPr/>
        </p:nvSpPr>
        <p:spPr>
          <a:xfrm>
            <a:off x="566928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draft review: no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49040" y="504748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3858768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§5.3.3 reviser: present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— step 2 'Review' by a different vendor (ISO §5.3.3 / §6.2).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561441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ISO-conformant production. Add explicit phase tags + the audit-logged client touchpoints.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editing and proofreading by three independent linguists, with a customer draft review.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557784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429000" y="1874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5256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18972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6751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order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67512" y="2871216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2258568"/>
            <a:ext cx="5248656" cy="420624"/>
          </a:xfrm>
          <a:prstGeom prst="roundRect">
            <a:avLst>
              <a:gd name="adj" fmla="val 13043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529584" y="2258568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Translation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2752344"/>
            <a:ext cx="5248656" cy="420624"/>
          </a:xfrm>
          <a:prstGeom prst="roundRect">
            <a:avLst>
              <a:gd name="adj" fmla="val 13043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529584" y="2752344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Editing (indep.)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56432" y="3246120"/>
            <a:ext cx="5248656" cy="420624"/>
          </a:xfrm>
          <a:prstGeom prst="roundRect">
            <a:avLst>
              <a:gd name="adj" fmla="val 13043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529584" y="3246120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Proofreading (indep.)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29584" y="3739896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Customer draft review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56432" y="4233672"/>
            <a:ext cx="5248656" cy="420624"/>
          </a:xfrm>
          <a:prstGeom prst="roundRect">
            <a:avLst>
              <a:gd name="adj" fmla="val 13043"/>
            </a:avLst>
          </a:prstGeom>
          <a:solidFill>
            <a:srgbClr val="475569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23" name="Text 21"/>
          <p:cNvSpPr/>
          <p:nvPr/>
        </p:nvSpPr>
        <p:spPr>
          <a:xfrm>
            <a:off x="3529584" y="4233672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QA review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8972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26287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(release)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89864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9262872" y="28986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89720" y="34655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9262872" y="346557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(§6.1)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89720" y="3959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proposed, audit-logged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504748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32" name="Text 30"/>
          <p:cNvSpPr/>
          <p:nvPr/>
        </p:nvSpPr>
        <p:spPr>
          <a:xfrm>
            <a:off x="566928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draft review: no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49040" y="504748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3858768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§5.3.3 reviser: present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— 'Editing' (§5.3.3) + 'Proofreading' (§5.3.5), both independent vendors.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561441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ISO posture. The model the other translation workflows should match.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+ translation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of audio/video, then translation and an independent review.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557784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429000" y="1874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5256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18972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6751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order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67512" y="2871216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225856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529584" y="225856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Transcription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289864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529584" y="289864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Translation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56432" y="353872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529584" y="353872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Review (indep.)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56432" y="417880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475569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529584" y="417880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QA review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8972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926287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(release)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89720" y="289864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9262872" y="28986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89720" y="34655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9262872" y="346557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(§6.1)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89720" y="3959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proposed, audit-logged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504748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566928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draft review: no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49040" y="504748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3858768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§5.3.3 reviser: present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— step 3 'Review' by a different vendor from the translator (§5.3.3).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561441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ISO-conformant production (corrected from the migration reconstruction — it does have a reviser).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only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without a second-linguist revision — a deliberately lighter, lower-cost service tier.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557784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429000" y="1874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052560" y="17830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189720" y="1874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POST-PRODUCTION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6751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/ order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87121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EF2F6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67512" y="2871216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225856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0C2340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529584" y="225856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Translation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56432" y="2898648"/>
            <a:ext cx="5248656" cy="512064"/>
          </a:xfrm>
          <a:prstGeom prst="roundRect">
            <a:avLst>
              <a:gd name="adj" fmla="val 10714"/>
            </a:avLst>
          </a:prstGeom>
          <a:solidFill>
            <a:srgbClr val="475569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529584" y="2898648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QA review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89720" y="225856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9262872" y="22585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(release)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289864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262872" y="289864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89720" y="34655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0F7FA"/>
          </a:solidFill>
          <a:ln w="12700">
            <a:solidFill>
              <a:srgbClr val="0891B2"/>
            </a:solidFill>
            <a:prstDash val="dash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9262872" y="346557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(§6.1)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89720" y="3959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proposed, audit-logged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504748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566928" y="5047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draft review: no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504748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3858768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§5.3.3 reviser: not present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revision by design. ISO 17100 always requires §5.3.3 revision, so this tier is non-ISO by definition.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561441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 an explicitly labelled non-ISO tier, or add a reviser to bring it into scope. A labelling/scope decision.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active workflows. Pre-production = quote/order record for every workflow; ISO phase tags are missing across the board.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354377"/>
              </p:ext>
            </p:extLst>
          </p:nvPr>
        </p:nvGraphicFramePr>
        <p:xfrm>
          <a:off x="457200" y="1691640"/>
          <a:ext cx="11247120" cy="378561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(production)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draft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§5.3.3 reviser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tags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Cognitive debriefing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Debriefing ·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(validation)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 review ·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(review svc)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/ back translation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Back-trans · Review ·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 verify*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 translation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· PM cert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+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· Review ·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· Editing · Proofing ·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 + translation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 · Translation · Review ·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·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(by design)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Medical / back translation verifies via back-translation + reconciliation (COA method) rather than a classic §5.3.3 revision — to be mapped in the audit binder.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proposed enhancement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Per-workflow, not one-size-fits-all. Existing ISO controls (reviser independence §6.2, assignment-eligibility logging, CAPA/complaints) are kept.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58368" y="183794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Make phases explicit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512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workflow step pre / production / post-production so an auditor can pull a phase-ordered timeline per order. Pre-production stays the quote/order record.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E0F7FA"/>
          </a:solidFill>
          <a:ln w="12700">
            <a:solidFill>
              <a:srgbClr val="0E7490"/>
            </a:solidFill>
            <a:prstDash val="solid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464808" y="1837944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Client communication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4808" y="2240280"/>
            <a:ext cx="512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draft review stays on the 3 document workflows. Add intake (§4.4) + delivery confirmation (§5.3.6) + feedback (§6.1) as audit-logged touchpoints — no client draft review forced on clinical work.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457200" y="3776472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58368" y="3922776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Immutable audit trail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4325112"/>
            <a:ext cx="512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hash-chained, append-only client-communication + lifecycle log (reusing the QMS quality-event pattern) so every client interaction is tamper-evident and order-linked.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263640" y="3776472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  <a:effectLst>
            <a:outerShdw blurRad="88900" dist="25400" dir="5400000" algn="bl" rotWithShape="0">
              <a:srgbClr val="0C234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464808" y="3922776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§5.3.3 decision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4325112"/>
            <a:ext cx="512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reviser for certified translation and translation-only (the two translation-producing workflows without one). Remediate or scope out — your call.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build — deck first, then ship in phases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touches the database until this mapping is confirmed.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14600" y="173736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tags on steps + immutable client-communication log (additive, low-risk).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578608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14600" y="2578608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timeline + phase-grouped order view + template-editor phase / step-kind selectors.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3419856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Client-communication step kind usable in templates; client query can pause production.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261104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57200" y="42611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14600" y="4261104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query pack + QMS docs; reconcile internal clause references to the standard.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3383280" cy="3310128"/>
          </a:xfrm>
          <a:prstGeom prst="roundRect">
            <a:avLst>
              <a:gd name="adj" fmla="val 2210"/>
            </a:avLst>
          </a:prstGeom>
          <a:solidFill>
            <a:srgbClr val="12305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8522208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22208" y="22860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§5.3.3 reviser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translation + translation-only: remediate or scope out.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LV cycle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LV steps now; build the chained full-cycle workflow later.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touchpoints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intake + delivery + feedback per workflow.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5212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mapping → confirm → we build Phase 1.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Cethos · ISO 17100 workflow mapping · June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1869</Words>
  <Application>Microsoft Office PowerPoint</Application>
  <PresentationFormat>Custom</PresentationFormat>
  <Paragraphs>321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Cethos workflows mapped to ISO 17100</dc:title>
  <dc:subject>PptxGenJS Presentation</dc:subject>
  <dc:creator>Cethos</dc:creator>
  <cp:lastModifiedBy>Raminder Shah</cp:lastModifiedBy>
  <cp:revision>2</cp:revision>
  <dcterms:created xsi:type="dcterms:W3CDTF">2026-06-24T00:49:56Z</dcterms:created>
  <dcterms:modified xsi:type="dcterms:W3CDTF">2026-06-24T18:54:55Z</dcterms:modified>
</cp:coreProperties>
</file>